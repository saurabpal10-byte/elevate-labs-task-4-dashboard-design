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4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5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41FDB-DB6F-76EE-C2D5-6B294A26B0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6FEB5A-BCC0-2DA2-5103-A3F622FF84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372286-55A3-63C2-4F30-BC3D6CBBD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92D1A-110F-4964-8CAB-E23177465B49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82376E-6AD9-C5B8-2600-270406181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A2FD74-3D8D-1846-14B6-E3E2D7302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1D372-4669-4E5B-BC42-4A31946A8F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8555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39E9C-6E08-E17C-D34F-17B744647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E8198D-3F63-6FC4-E245-E153E19F9D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CF997D-A927-0303-9E18-7BDB2C229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92D1A-110F-4964-8CAB-E23177465B49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674101-F89F-D2A3-BD26-CE49CC593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87DED6-0952-8E8E-039F-3776C533E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1D372-4669-4E5B-BC42-4A31946A8F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2652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FF6EC-C34F-9B39-B5DF-8F8319A06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16BA54-A1B9-A00B-AC8E-D7A2BEC8DD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D38A44-8396-8783-78C2-15297A17C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92D1A-110F-4964-8CAB-E23177465B49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AAF022-1EE2-DA2E-55B9-BA89F0F24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382E8-9CFA-9402-8A53-7B245435A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1D372-4669-4E5B-BC42-4A31946A8F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71764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C8DA4-B36E-EE6C-B4B1-346DED5FB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120E36-7ADF-2362-8BD4-35385B408D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A873C0-DADF-64A5-09C3-308B532669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3CA28E-E91F-8272-5D33-6A92FF80A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92D1A-110F-4964-8CAB-E23177465B49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297E56-90D2-0D3D-60AD-7AE7ECF71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0F5340-05A8-1AC7-764F-77561538E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1D372-4669-4E5B-BC42-4A31946A8F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26331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049E9-90CF-4BD2-F114-275FBB1B4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B89D81-AF20-0341-1E6A-34F584FF14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3A13FA-A3DC-8846-5C9B-613CD3A423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8213F9-73BE-547B-14A9-B724AA0045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E677D9-4797-02AB-1AE0-0D36932BC7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1741E0-5B83-C237-C40F-5D1F652DB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92D1A-110F-4964-8CAB-E23177465B49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8C2982-5473-7181-A09C-DE082C794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FCB254-492A-FDF0-A591-7B2613E9C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1D372-4669-4E5B-BC42-4A31946A8F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88721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5C106-31FC-B251-C5F5-414DD79BE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D4ED6F-16FC-298B-C174-ED6CEB355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92D1A-110F-4964-8CAB-E23177465B49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C0A7FB-4CD4-60C0-ED60-90F76F564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962E44-393C-3C07-5652-DA98D8849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1D372-4669-4E5B-BC42-4A31946A8F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2583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544EB8-165C-052F-F4C6-17F94055E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92D1A-110F-4964-8CAB-E23177465B49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8BB4A5-85F2-4585-A041-D31AB011A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E039B0-85FA-F448-E9C3-E4D4AFC1C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1D372-4669-4E5B-BC42-4A31946A8F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8855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61433-2095-C0A9-42BA-64FEF30E8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141403-43AE-F541-0F64-2B4336C77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4FEFD0-E723-AAB6-A228-6FC4F2CABD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CBD835-35CD-456E-7792-4123F0625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92D1A-110F-4964-8CAB-E23177465B49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171E67-A4BB-2107-D729-CDB3D0274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FB7976-0042-D091-8E48-C75210546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1D372-4669-4E5B-BC42-4A31946A8F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8253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2078A-0C0D-ED4C-FAE8-87920E43F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642D35-FF7C-6C44-DEFB-C4221A503B5B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194CA9-0264-2FA0-39A2-A289CE667A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8C0B0B-0AD9-28B2-E217-5761A5A69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92D1A-110F-4964-8CAB-E23177465B49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0A7479-9382-9749-202A-93154E64A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779997-047D-C164-CEFD-EAB777613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1D372-4669-4E5B-BC42-4A31946A8F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98735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993BC-6ECE-39F3-6EB0-9CBA2AE41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8A0DBD-88EB-DFD2-6385-A240994C69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62645-F3B0-A46E-E7AD-A6CFEA781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92D1A-110F-4964-8CAB-E23177465B49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18323F-BAD8-A616-6DA3-60DB817DA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36196D-95F4-237B-B1C1-30C554428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1D372-4669-4E5B-BC42-4A31946A8F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8857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98F9BA-B810-BFE2-F581-A88642A313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FE88D3-F0D5-F6D7-D02A-4472A764D1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83728D-5123-0F78-94AE-497F6F8A2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92D1A-110F-4964-8CAB-E23177465B49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B4C5AD-8F92-0064-BDDA-3179EF91D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70A908-8E95-6B91-B449-EEB84ADA3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1D372-4669-4E5B-BC42-4A31946A8F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5713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568596-8F15-92E4-B46F-97DDEC4A3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B53D1F-536C-BE8C-1F83-BBF032449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29996C-DEC3-A0D1-1F14-7D848E819A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992D1A-110F-4964-8CAB-E23177465B49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6D76DD-06B1-2E03-7816-B3DA4355C7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8B7BAD-B878-C2E0-A1A1-3E4214F6D9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C1D372-4669-4E5B-BC42-4A31946A8F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6609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724E4-FCAF-1A75-314C-401F930099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8953500" cy="3003323"/>
          </a:xfrm>
        </p:spPr>
        <p:txBody>
          <a:bodyPr>
            <a:normAutofit/>
          </a:bodyPr>
          <a:lstStyle/>
          <a:p>
            <a:r>
              <a:rPr lang="en-IN" dirty="0"/>
              <a:t> </a:t>
            </a:r>
            <a:r>
              <a:rPr lang="en-IN" b="1" dirty="0"/>
              <a:t>DATA ANALYST INTERNSHIP</a:t>
            </a:r>
            <a:br>
              <a:rPr lang="en-IN" b="1" dirty="0"/>
            </a:br>
            <a:r>
              <a:rPr lang="en-IN" b="1" dirty="0"/>
              <a:t> Task 4: Dashboard Design</a:t>
            </a:r>
            <a:br>
              <a:rPr lang="en-IN" dirty="0">
                <a:latin typeface="+mn-lt"/>
              </a:rPr>
            </a:br>
            <a:endParaRPr lang="en-IN" dirty="0">
              <a:latin typeface="+mn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BBEB8B-56FD-98C6-E9F8-8228555EBF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94314"/>
            <a:ext cx="9144000" cy="1763486"/>
          </a:xfrm>
        </p:spPr>
        <p:txBody>
          <a:bodyPr/>
          <a:lstStyle/>
          <a:p>
            <a:r>
              <a:rPr lang="en-IN" dirty="0"/>
              <a:t>Sales &amp; Profit Performance Dashboard</a:t>
            </a:r>
          </a:p>
          <a:p>
            <a:r>
              <a:rPr lang="en-IN" dirty="0"/>
              <a:t>Power BI | Sales &amp; Financial Analysis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830034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8993A4-EAC8-A9FA-79D6-1B96A50DB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0064" y="134084"/>
            <a:ext cx="3743736" cy="909704"/>
          </a:xfrm>
        </p:spPr>
        <p:txBody>
          <a:bodyPr anchor="ctr">
            <a:normAutofit/>
          </a:bodyPr>
          <a:lstStyle/>
          <a:p>
            <a:r>
              <a:rPr lang="en-IN" sz="3200" b="1" dirty="0"/>
              <a:t>Dashboard Overview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4343ABD-10F9-DE2B-5257-9544407DC5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8840" y="995077"/>
            <a:ext cx="6999645" cy="401986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B1CE154-3EDB-FF57-4BCE-D5E2C48487EE}"/>
              </a:ext>
            </a:extLst>
          </p:cNvPr>
          <p:cNvSpPr txBox="1"/>
          <p:nvPr/>
        </p:nvSpPr>
        <p:spPr>
          <a:xfrm>
            <a:off x="953449" y="5314493"/>
            <a:ext cx="107719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Interactive Power BI dashboard for monitoring sales, profitability, growth, customer segments, categories, and regional performance.</a:t>
            </a:r>
          </a:p>
        </p:txBody>
      </p:sp>
    </p:spTree>
    <p:extLst>
      <p:ext uri="{BB962C8B-B14F-4D97-AF65-F5344CB8AC3E}">
        <p14:creationId xmlns:p14="http://schemas.microsoft.com/office/powerpoint/2010/main" val="10895785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323F8-B18A-0624-E41E-81B7D014D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0918"/>
          </a:xfrm>
        </p:spPr>
        <p:txBody>
          <a:bodyPr>
            <a:normAutofit/>
          </a:bodyPr>
          <a:lstStyle/>
          <a:p>
            <a:r>
              <a:rPr lang="en-IN" sz="3600" b="1" dirty="0"/>
              <a:t>Key KPIs &amp; Findings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6803353-F62A-8EDA-8AD8-D4E6C71E8FEE}"/>
              </a:ext>
            </a:extLst>
          </p:cNvPr>
          <p:cNvSpPr/>
          <p:nvPr/>
        </p:nvSpPr>
        <p:spPr>
          <a:xfrm>
            <a:off x="1714511" y="1499507"/>
            <a:ext cx="1529443" cy="9742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87A65A-8C60-5BB3-89EE-AA3C74F0CA63}"/>
              </a:ext>
            </a:extLst>
          </p:cNvPr>
          <p:cNvSpPr/>
          <p:nvPr/>
        </p:nvSpPr>
        <p:spPr>
          <a:xfrm>
            <a:off x="3837222" y="1513114"/>
            <a:ext cx="1529443" cy="9742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C09EC8-0CA1-4C2E-8EFA-CDF1821780C2}"/>
              </a:ext>
            </a:extLst>
          </p:cNvPr>
          <p:cNvSpPr/>
          <p:nvPr/>
        </p:nvSpPr>
        <p:spPr>
          <a:xfrm>
            <a:off x="8082643" y="1513114"/>
            <a:ext cx="1529443" cy="9742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87ADB6B-AD6F-B4A3-295E-8CEE407A804F}"/>
              </a:ext>
            </a:extLst>
          </p:cNvPr>
          <p:cNvSpPr/>
          <p:nvPr/>
        </p:nvSpPr>
        <p:spPr>
          <a:xfrm>
            <a:off x="5959932" y="1499507"/>
            <a:ext cx="1529443" cy="9742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5DDDF9-3C09-7075-0EF7-7AAC880D2AFD}"/>
              </a:ext>
            </a:extLst>
          </p:cNvPr>
          <p:cNvSpPr txBox="1"/>
          <p:nvPr/>
        </p:nvSpPr>
        <p:spPr>
          <a:xfrm>
            <a:off x="1876432" y="1656311"/>
            <a:ext cx="13443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Total Sales </a:t>
            </a:r>
          </a:p>
          <a:p>
            <a:r>
              <a:rPr lang="en-IN" sz="1600" dirty="0"/>
              <a:t>2.30M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A71DEE-2A06-8088-BD53-8CB68C2A50B0}"/>
              </a:ext>
            </a:extLst>
          </p:cNvPr>
          <p:cNvSpPr txBox="1"/>
          <p:nvPr/>
        </p:nvSpPr>
        <p:spPr>
          <a:xfrm>
            <a:off x="3948797" y="1656313"/>
            <a:ext cx="13552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Total Profit</a:t>
            </a:r>
          </a:p>
          <a:p>
            <a:r>
              <a:rPr lang="en-IN" sz="1600" dirty="0"/>
              <a:t>286.40K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BAB9870-CB08-7F99-5067-779A79A1C15D}"/>
              </a:ext>
            </a:extLst>
          </p:cNvPr>
          <p:cNvSpPr txBox="1"/>
          <p:nvPr/>
        </p:nvSpPr>
        <p:spPr>
          <a:xfrm>
            <a:off x="6003474" y="1656312"/>
            <a:ext cx="14423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Sale Growth%</a:t>
            </a:r>
          </a:p>
          <a:p>
            <a:r>
              <a:rPr lang="en-IN" sz="1600" dirty="0"/>
              <a:t>20.4%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751B0B6-09B7-2BE0-4E28-D0C1DDF0975A}"/>
              </a:ext>
            </a:extLst>
          </p:cNvPr>
          <p:cNvSpPr txBox="1"/>
          <p:nvPr/>
        </p:nvSpPr>
        <p:spPr>
          <a:xfrm>
            <a:off x="8158842" y="1674264"/>
            <a:ext cx="13770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Profit Margin</a:t>
            </a:r>
          </a:p>
          <a:p>
            <a:r>
              <a:rPr lang="en-IN" sz="1600" dirty="0"/>
              <a:t>12.5%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D985C95-C1F3-0C23-EA90-B38E23BFA455}"/>
              </a:ext>
            </a:extLst>
          </p:cNvPr>
          <p:cNvSpPr txBox="1"/>
          <p:nvPr/>
        </p:nvSpPr>
        <p:spPr>
          <a:xfrm>
            <a:off x="1047752" y="3193273"/>
            <a:ext cx="991144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Key Findings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Technology</a:t>
            </a:r>
            <a:r>
              <a:rPr lang="en-IN" dirty="0"/>
              <a:t> is the strongest sales-generating category.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West</a:t>
            </a:r>
            <a:r>
              <a:rPr lang="en-IN" dirty="0"/>
              <a:t> is the most profitable region.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Consumer</a:t>
            </a:r>
            <a:r>
              <a:rPr lang="en-IN" dirty="0"/>
              <a:t> is the largest customer segment by sales.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Central</a:t>
            </a:r>
            <a:r>
              <a:rPr lang="en-IN" dirty="0"/>
              <a:t> is the only region showing negative profit.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Monthly sales trends help identify periods of stronger and weaker demand.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118674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79F58-FDDA-807F-DAA1-E72632EFE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6122" y="434156"/>
            <a:ext cx="3665764" cy="587375"/>
          </a:xfrm>
        </p:spPr>
        <p:txBody>
          <a:bodyPr>
            <a:normAutofit/>
          </a:bodyPr>
          <a:lstStyle/>
          <a:p>
            <a:r>
              <a:rPr lang="en-IN" sz="3600" b="1" dirty="0"/>
              <a:t>Business Insights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6F7569A-F7BF-83BC-A3A8-DE644DD25037}"/>
              </a:ext>
            </a:extLst>
          </p:cNvPr>
          <p:cNvSpPr/>
          <p:nvPr/>
        </p:nvSpPr>
        <p:spPr>
          <a:xfrm>
            <a:off x="1240971" y="1324929"/>
            <a:ext cx="4468586" cy="22751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3A1331-62E7-367B-F759-FDA08AE0E03F}"/>
              </a:ext>
            </a:extLst>
          </p:cNvPr>
          <p:cNvSpPr/>
          <p:nvPr/>
        </p:nvSpPr>
        <p:spPr>
          <a:xfrm>
            <a:off x="1240971" y="3766457"/>
            <a:ext cx="4468586" cy="22751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882ABF-24C3-89DD-F4B2-47F8057DA78D}"/>
              </a:ext>
            </a:extLst>
          </p:cNvPr>
          <p:cNvSpPr/>
          <p:nvPr/>
        </p:nvSpPr>
        <p:spPr>
          <a:xfrm>
            <a:off x="6487885" y="3766457"/>
            <a:ext cx="4468586" cy="22751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F28E54E-0640-9FF7-FBCC-CEE07D341279}"/>
              </a:ext>
            </a:extLst>
          </p:cNvPr>
          <p:cNvSpPr/>
          <p:nvPr/>
        </p:nvSpPr>
        <p:spPr>
          <a:xfrm>
            <a:off x="6482443" y="1338943"/>
            <a:ext cx="4468586" cy="22751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DA9626-2A30-BDCF-9DA2-F80B4829F108}"/>
              </a:ext>
            </a:extLst>
          </p:cNvPr>
          <p:cNvSpPr txBox="1"/>
          <p:nvPr/>
        </p:nvSpPr>
        <p:spPr>
          <a:xfrm>
            <a:off x="1303564" y="1737836"/>
            <a:ext cx="441415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Sales Performance:</a:t>
            </a:r>
          </a:p>
          <a:p>
            <a:r>
              <a:rPr lang="en-IN" b="1" dirty="0"/>
              <a:t>Technology is the strongest sales-generating category</a:t>
            </a:r>
            <a:r>
              <a:rPr lang="en-IN" dirty="0"/>
              <a:t>, making it a key contributor to overall revenue.</a:t>
            </a:r>
          </a:p>
          <a:p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709D9B-A156-B2C7-9F02-A769FBC16379}"/>
              </a:ext>
            </a:extLst>
          </p:cNvPr>
          <p:cNvSpPr txBox="1"/>
          <p:nvPr/>
        </p:nvSpPr>
        <p:spPr>
          <a:xfrm>
            <a:off x="6648450" y="1737836"/>
            <a:ext cx="413657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Profitability :</a:t>
            </a:r>
          </a:p>
          <a:p>
            <a:r>
              <a:rPr lang="en-IN" b="1" dirty="0"/>
              <a:t>West is the most profitable region</a:t>
            </a:r>
            <a:r>
              <a:rPr lang="en-IN" dirty="0"/>
              <a:t>, while </a:t>
            </a:r>
            <a:r>
              <a:rPr lang="en-IN" b="1" dirty="0"/>
              <a:t>Central shows negative profit</a:t>
            </a:r>
            <a:r>
              <a:rPr lang="en-IN" dirty="0"/>
              <a:t> and should be reviewed for pricing, discounting, product mix, and operating efficiency.</a:t>
            </a:r>
          </a:p>
          <a:p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8E6411-F3E6-5D7E-1BCF-8A0FEB7D2E32}"/>
              </a:ext>
            </a:extLst>
          </p:cNvPr>
          <p:cNvSpPr txBox="1"/>
          <p:nvPr/>
        </p:nvSpPr>
        <p:spPr>
          <a:xfrm>
            <a:off x="1303564" y="4082143"/>
            <a:ext cx="425087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Customer Segments:</a:t>
            </a:r>
          </a:p>
          <a:p>
            <a:r>
              <a:rPr lang="en-IN" b="1" dirty="0"/>
              <a:t>Consumer customers contribute the largest share of sales</a:t>
            </a:r>
            <a:r>
              <a:rPr lang="en-IN" dirty="0"/>
              <a:t>, indicating strong revenue potential from this segment.</a:t>
            </a:r>
          </a:p>
          <a:p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86F085-C494-6FC4-B9E3-6325A0B86D84}"/>
              </a:ext>
            </a:extLst>
          </p:cNvPr>
          <p:cNvSpPr txBox="1"/>
          <p:nvPr/>
        </p:nvSpPr>
        <p:spPr>
          <a:xfrm>
            <a:off x="6594022" y="4082143"/>
            <a:ext cx="424542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Sales Trend:</a:t>
            </a:r>
          </a:p>
          <a:p>
            <a:r>
              <a:rPr lang="en-IN" dirty="0"/>
              <a:t>Monthly sales patterns reveal periods of stronger and weaker demand, supporting better </a:t>
            </a:r>
            <a:r>
              <a:rPr lang="en-IN" b="1" dirty="0"/>
              <a:t>sales, inventory, and marketing planning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490379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5E20B-68E7-4EA5-7497-3F49A152D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7371" y="245382"/>
            <a:ext cx="6144986" cy="652689"/>
          </a:xfrm>
        </p:spPr>
        <p:txBody>
          <a:bodyPr>
            <a:normAutofit/>
          </a:bodyPr>
          <a:lstStyle/>
          <a:p>
            <a:r>
              <a:rPr lang="en-IN" sz="3600" b="1" dirty="0"/>
              <a:t>Recommendations &amp; 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52BA64-E8FF-E8C5-19B4-6F7D929CC739}"/>
              </a:ext>
            </a:extLst>
          </p:cNvPr>
          <p:cNvSpPr txBox="1"/>
          <p:nvPr/>
        </p:nvSpPr>
        <p:spPr>
          <a:xfrm>
            <a:off x="419102" y="1066801"/>
            <a:ext cx="11707584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Business Recommendations:</a:t>
            </a:r>
          </a:p>
          <a:p>
            <a:r>
              <a:rPr lang="en-IN" b="1" dirty="0"/>
              <a:t>1. Prioritize Technology Sales</a:t>
            </a:r>
            <a:br>
              <a:rPr lang="en-IN" dirty="0"/>
            </a:br>
            <a:r>
              <a:rPr lang="en-IN" dirty="0"/>
              <a:t>      Continue investing in high-performing technology products and related promotions.</a:t>
            </a:r>
          </a:p>
          <a:p>
            <a:r>
              <a:rPr lang="en-IN" b="1" dirty="0"/>
              <a:t>2. Improve Central Region Profitability</a:t>
            </a:r>
            <a:br>
              <a:rPr lang="en-IN" dirty="0"/>
            </a:br>
            <a:r>
              <a:rPr lang="en-IN" dirty="0"/>
              <a:t>      Review pricing, discounting, product mix, and operating costs in the Central region.</a:t>
            </a:r>
          </a:p>
          <a:p>
            <a:r>
              <a:rPr lang="en-IN" b="1" dirty="0"/>
              <a:t>3. Focus on High-Value Customer Segments</a:t>
            </a:r>
            <a:br>
              <a:rPr lang="en-IN" dirty="0"/>
            </a:br>
            <a:r>
              <a:rPr lang="en-IN" dirty="0"/>
              <a:t>      Use targeted campaigns and retention strategies for the strongest revenue-generating segment.</a:t>
            </a:r>
          </a:p>
          <a:p>
            <a:r>
              <a:rPr lang="en-IN" b="1" dirty="0"/>
              <a:t>4. Use Sales Trends for Planning</a:t>
            </a:r>
            <a:br>
              <a:rPr lang="en-IN" dirty="0"/>
            </a:br>
            <a:r>
              <a:rPr lang="en-IN" dirty="0"/>
              <a:t>      Use monthly sales patterns to support inventory, marketing, and sales planning.</a:t>
            </a:r>
          </a:p>
          <a:p>
            <a:endParaRPr lang="en-IN" dirty="0"/>
          </a:p>
          <a:p>
            <a:r>
              <a:rPr lang="en-IN" sz="2000" b="1" dirty="0"/>
              <a:t>Conclusion:</a:t>
            </a:r>
          </a:p>
          <a:p>
            <a:r>
              <a:rPr lang="en-IN" dirty="0"/>
              <a:t>The Power BI dashboard provides an interactive view of sales and profitability, helping stakeholders identify performance trends, regional opportunities, customer patterns, and areas requiring improvement.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8490343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330</Words>
  <Application>Microsoft Office PowerPoint</Application>
  <PresentationFormat>Widescreen</PresentationFormat>
  <Paragraphs>38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 DATA ANALYST INTERNSHIP  Task 4: Dashboard Design </vt:lpstr>
      <vt:lpstr>Dashboard Overview</vt:lpstr>
      <vt:lpstr>Key KPIs &amp; Findings</vt:lpstr>
      <vt:lpstr>Business Insights</vt:lpstr>
      <vt:lpstr>Recommendations &amp;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saurav pal</dc:creator>
  <cp:lastModifiedBy>saurav pal</cp:lastModifiedBy>
  <cp:revision>1</cp:revision>
  <dcterms:created xsi:type="dcterms:W3CDTF">2026-10-08T18:04:37Z</dcterms:created>
  <dcterms:modified xsi:type="dcterms:W3CDTF">2026-10-08T18:44:11Z</dcterms:modified>
</cp:coreProperties>
</file>